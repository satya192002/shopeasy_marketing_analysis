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Conversion Rate %</c:v>
                </c:pt>
              </c:strCache>
            </c:strRef>
          </c:tx>
          <c:spPr>
            <a:solidFill>
              <a:srgbClr val="43C6A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18.5</c:v>
                </c:pt>
                <c:pt idx="1">
                  <c:v>12.2</c:v>
                </c:pt>
                <c:pt idx="2">
                  <c:v>9.1</c:v>
                </c:pt>
                <c:pt idx="3">
                  <c:v>8.5</c:v>
                </c:pt>
                <c:pt idx="4">
                  <c:v>4.3</c:v>
                </c:pt>
                <c:pt idx="5">
                  <c:v>7.8</c:v>
                </c:pt>
                <c:pt idx="6">
                  <c:v>13</c:v>
                </c:pt>
                <c:pt idx="7">
                  <c:v>9.5</c:v>
                </c:pt>
                <c:pt idx="8">
                  <c:v>11.2</c:v>
                </c:pt>
                <c:pt idx="9">
                  <c:v>5</c:v>
                </c:pt>
                <c:pt idx="10">
                  <c:v>7.3</c:v>
                </c:pt>
                <c:pt idx="11">
                  <c:v>10.2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9BB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406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9BB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A2E45"/>
        </a:solidFill>
        <a:ln>
          <a:noFill/>
        </a:ln>
        <a:effectLst/>
      </c:spPr>
    </c:plotArea>
    <c:plotVisOnly val="1"/>
    <c:dispBlanksAs val="span"/>
  </c:chart>
  <c:spPr>
    <a:solidFill>
      <a:srgbClr val="1A2E45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Reviews</c:v>
                </c:pt>
              </c:strCache>
            </c:strRef>
          </c:tx>
          <c:spPr>
            <a:solidFill>
              <a:srgbClr val="43C6A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3C6A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3C6A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9C74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96167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96167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5 Stars</c:v>
                  </c:pt>
                  <c:pt idx="1">
                    <c:v>4 Stars</c:v>
                  </c:pt>
                  <c:pt idx="2">
                    <c:v>3 Stars</c:v>
                  </c:pt>
                  <c:pt idx="3">
                    <c:v>2 Stars</c:v>
                  </c:pt>
                  <c:pt idx="4">
                    <c:v>1 Star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135</c:v>
                </c:pt>
                <c:pt idx="1">
                  <c:v>140</c:v>
                </c:pt>
                <c:pt idx="2">
                  <c:v>48</c:v>
                </c:pt>
                <c:pt idx="3">
                  <c:v>57</c:v>
                </c:pt>
                <c:pt idx="4">
                  <c:v>26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D0DCE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2A406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9BB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A2E45"/>
        </a:solidFill>
        <a:ln>
          <a:noFill/>
        </a:ln>
        <a:effectLst/>
      </c:spPr>
    </c:plotArea>
    <c:plotVisOnly val="1"/>
    <c:dispBlanksAs val="span"/>
  </c:chart>
  <c:spPr>
    <a:solidFill>
      <a:srgbClr val="1A2E45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1097280"/>
            <a:ext cx="4114800" cy="4114800"/>
          </a:xfrm>
          <a:prstGeom prst="ellipse">
            <a:avLst/>
          </a:prstGeom>
          <a:solidFill>
            <a:srgbClr val="F96167">
              <a:alpha val="15000"/>
            </a:srgbClr>
          </a:solidFill>
          <a:ln w="12700">
            <a:solidFill>
              <a:srgbClr val="F96167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-457200"/>
            <a:ext cx="2743200" cy="2743200"/>
          </a:xfrm>
          <a:prstGeom prst="ellipse">
            <a:avLst/>
          </a:prstGeom>
          <a:solidFill>
            <a:srgbClr val="F9C74F">
              <a:alpha val="10000"/>
            </a:srgbClr>
          </a:solidFill>
          <a:ln w="12700">
            <a:solidFill>
              <a:srgbClr val="F9C74F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188720"/>
            <a:ext cx="2011680" cy="29260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1887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FINAL REPORT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1572768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ShopEasy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411480" y="2304288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D0DC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Marketing Analytics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11480" y="30175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· Engagement · Customer Feedback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663440"/>
            <a:ext cx="82296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BBE"/>
                </a:solidFill>
              </a:rPr>
              <a:t>Data Analyst  |  ShopEasy  |  2024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01168"/>
            <a:ext cx="1737360" cy="25603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OVERVIEW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0789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performance metrics from ShopEasy's 2024 marketing analytics review.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7472" y="1554480"/>
            <a:ext cx="1920240" cy="237744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47472" y="1554480"/>
            <a:ext cx="1920240" cy="64008"/>
          </a:xfrm>
          <a:prstGeom prst="rect">
            <a:avLst/>
          </a:prstGeom>
          <a:solidFill>
            <a:srgbClr val="43C6AC"/>
          </a:solidFill>
          <a:ln w="12700">
            <a:solidFill>
              <a:srgbClr val="43C6AC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1691640"/>
            <a:ext cx="411480" cy="4114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47472" y="219456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C6A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10.2%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347472" y="2816352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Conversion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(December)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496312" y="1554480"/>
            <a:ext cx="1920240" cy="237744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496312" y="1554480"/>
            <a:ext cx="1920240" cy="6400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3472" y="1691640"/>
            <a:ext cx="411480" cy="4114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496312" y="219456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9616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5.0%</a:t>
            </a:r>
            <a:endParaRPr lang="en-US" sz="2800" dirty="0"/>
          </a:p>
        </p:txBody>
      </p:sp>
      <p:sp>
        <p:nvSpPr>
          <p:cNvPr id="16" name="Text 12"/>
          <p:cNvSpPr/>
          <p:nvPr/>
        </p:nvSpPr>
        <p:spPr>
          <a:xfrm>
            <a:off x="2496312" y="2816352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Conversion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(October)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4645152" y="1554480"/>
            <a:ext cx="1920240" cy="237744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645152" y="1554480"/>
            <a:ext cx="1920240" cy="64008"/>
          </a:xfrm>
          <a:prstGeom prst="rect">
            <a:avLst/>
          </a:prstGeom>
          <a:solidFill>
            <a:srgbClr val="F9C74F"/>
          </a:solidFill>
          <a:ln w="12700">
            <a:solidFill>
              <a:srgbClr val="F9C74F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2312" y="1691640"/>
            <a:ext cx="411480" cy="4114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645152" y="219456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9C7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15.37%</a:t>
            </a:r>
            <a:endParaRPr lang="en-US" sz="2800" dirty="0"/>
          </a:p>
        </p:txBody>
      </p:sp>
      <p:sp>
        <p:nvSpPr>
          <p:cNvPr id="21" name="Text 16"/>
          <p:cNvSpPr/>
          <p:nvPr/>
        </p:nvSpPr>
        <p:spPr>
          <a:xfrm>
            <a:off x="4645152" y="2816352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Click-Through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6793992" y="1554480"/>
            <a:ext cx="1920240" cy="237744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793992" y="1554480"/>
            <a:ext cx="1920240" cy="64008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1152" y="1691640"/>
            <a:ext cx="411480" cy="41148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793992" y="219456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0DC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3.7/5</a:t>
            </a:r>
            <a:endParaRPr lang="en-US" sz="2800" dirty="0"/>
          </a:p>
        </p:txBody>
      </p:sp>
      <p:sp>
        <p:nvSpPr>
          <p:cNvPr id="26" name="Text 20"/>
          <p:cNvSpPr/>
          <p:nvPr/>
        </p:nvSpPr>
        <p:spPr>
          <a:xfrm>
            <a:off x="6793992" y="2816352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Customer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7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rates showed a strong year-end rebound. Engagement metrics highlight content strategy gaps. Customer sentiment is broadly positive with clear improvement opportunities.</a:t>
            </a:r>
            <a:endParaRPr lang="en-US" sz="1150" dirty="0"/>
          </a:p>
        </p:txBody>
      </p:sp>
      <p:sp>
        <p:nvSpPr>
          <p:cNvPr id="28" name="Shape 2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457200" y="4846320"/>
            <a:ext cx="8229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BBE"/>
                </a:solidFill>
              </a:rPr>
              <a:t>ShopEasy Marketing Analytics  |  2024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3C6AC"/>
          </a:solidFill>
          <a:ln w="12700">
            <a:solidFill>
              <a:srgbClr val="43C6A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3474720" cy="5070348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256032"/>
            <a:ext cx="1463040" cy="256032"/>
          </a:xfrm>
          <a:prstGeom prst="rect">
            <a:avLst/>
          </a:prstGeom>
          <a:solidFill>
            <a:srgbClr val="43C6AC"/>
          </a:solidFill>
          <a:ln w="12700">
            <a:solidFill>
              <a:srgbClr val="43C6A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256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2A"/>
                </a:solidFill>
              </a:rPr>
              <a:t>SECTION 01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74320" y="59436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Conversion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Rate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Analysis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274320" y="1965960"/>
            <a:ext cx="54864" cy="594360"/>
          </a:xfrm>
          <a:prstGeom prst="rect">
            <a:avLst/>
          </a:prstGeom>
          <a:solidFill>
            <a:srgbClr val="43C6AC"/>
          </a:solidFill>
          <a:ln w="12700">
            <a:solidFill>
              <a:srgbClr val="43C6A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9659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3C6A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18.5%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22860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— January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880360"/>
            <a:ext cx="54864" cy="59436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8803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4.3%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57200" y="32004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— May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3794760"/>
            <a:ext cx="54864" cy="594360"/>
          </a:xfrm>
          <a:prstGeom prst="rect">
            <a:avLst/>
          </a:prstGeom>
          <a:solidFill>
            <a:srgbClr val="F9C74F"/>
          </a:solidFill>
          <a:ln w="12700">
            <a:solidFill>
              <a:srgbClr val="F9C74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7947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C7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10.2%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57200" y="4114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Rebound — December</a:t>
            </a:r>
            <a:endParaRPr lang="en-US" sz="11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3749040" y="457200"/>
          <a:ext cx="512064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Text 14"/>
          <p:cNvSpPr/>
          <p:nvPr/>
        </p:nvSpPr>
        <p:spPr>
          <a:xfrm>
            <a:off x="3749040" y="45720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A9BBE"/>
                </a:solidFill>
              </a:rPr>
              <a:t>Monthly Conversion Rate (%)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7200" y="4846320"/>
            <a:ext cx="8229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BBE"/>
                </a:solidFill>
              </a:rPr>
              <a:t>ShopEasy Marketing Analytics  |  2024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9C74F"/>
          </a:solidFill>
          <a:ln w="12700">
            <a:solidFill>
              <a:srgbClr val="F9C7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01168"/>
            <a:ext cx="1554480" cy="256032"/>
          </a:xfrm>
          <a:prstGeom prst="rect">
            <a:avLst/>
          </a:prstGeom>
          <a:solidFill>
            <a:srgbClr val="F9C74F"/>
          </a:solidFill>
          <a:ln w="12700">
            <a:solidFill>
              <a:srgbClr val="F9C7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2A"/>
                </a:solidFill>
              </a:rPr>
              <a:t>SECTION 02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Customer Engagement Analysis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234440"/>
            <a:ext cx="2606040" cy="256032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1234440"/>
            <a:ext cx="2606040" cy="6400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137160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84632" y="19202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Declining Views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84632" y="233172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 peaked in Feb &amp; Jul but fell consistently from August onward — audience engagement dropped in H2.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182112" y="1234440"/>
            <a:ext cx="2606040" cy="256032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182112" y="1234440"/>
            <a:ext cx="2606040" cy="64008"/>
          </a:xfrm>
          <a:prstGeom prst="rect">
            <a:avLst/>
          </a:prstGeom>
          <a:solidFill>
            <a:srgbClr val="F9C74F"/>
          </a:solidFill>
          <a:ln w="12700">
            <a:solidFill>
              <a:srgbClr val="F9C74F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9272" y="137160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319272" y="19202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Low Interactions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319272" y="233172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Clicks &amp; likes remained low vs. views. Yet CTR of 15.37% shows engaged users DO interact effectively.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016752" y="1234440"/>
            <a:ext cx="2606040" cy="256032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016752" y="1234440"/>
            <a:ext cx="2606040" cy="64008"/>
          </a:xfrm>
          <a:prstGeom prst="rect">
            <a:avLst/>
          </a:prstGeom>
          <a:solidFill>
            <a:srgbClr val="43C6AC"/>
          </a:solidFill>
          <a:ln w="12700">
            <a:solidFill>
              <a:srgbClr val="43C6AC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3912" y="1371600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153912" y="19202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Blog Dominates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153912" y="233172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 content drove the most views in Apr &amp; Jul. Social media and video held steady but lower.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347472" y="3931920"/>
            <a:ext cx="8449056" cy="68580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347472" y="3931920"/>
            <a:ext cx="73152" cy="685800"/>
          </a:xfrm>
          <a:prstGeom prst="rect">
            <a:avLst/>
          </a:prstGeom>
          <a:solidFill>
            <a:srgbClr val="F9C74F"/>
          </a:solidFill>
          <a:ln w="12700">
            <a:solidFill>
              <a:srgbClr val="F9C74F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548640" y="393192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C74F"/>
                </a:solidFill>
              </a:rPr>
              <a:t>Key Insight: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1691640" y="393192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Despite low absolute click numbers, the 15.37% CTR confirms that content is resonating with engaged users — focus should be on widening the top of the funnel.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457200" y="4846320"/>
            <a:ext cx="8229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BBE"/>
                </a:solidFill>
              </a:rPr>
              <a:t>ShopEasy Marketing Analytics  |  2024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01168"/>
            <a:ext cx="1554480" cy="25603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SECTION 03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Customer Feedback Analysis</a:t>
            </a:r>
            <a:endParaRPr lang="en-US" sz="26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1188720"/>
          <a:ext cx="41148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365760" y="45262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A9BBE"/>
                </a:solidFill>
              </a:rPr>
              <a:t>Ratings Distribution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846320" y="1188720"/>
            <a:ext cx="3931920" cy="91440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846320" y="1188720"/>
            <a:ext cx="64008" cy="914400"/>
          </a:xfrm>
          <a:prstGeom prst="rect">
            <a:avLst/>
          </a:prstGeom>
          <a:solidFill>
            <a:srgbClr val="43C6AC"/>
          </a:solidFill>
          <a:ln w="12700">
            <a:solidFill>
              <a:srgbClr val="43C6A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0" y="126187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Positive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029200" y="1600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275 reviews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772400" y="137160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43C6A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62%</a:t>
            </a:r>
            <a:endParaRPr lang="en-US" sz="2400" dirty="0"/>
          </a:p>
        </p:txBody>
      </p:sp>
      <p:sp>
        <p:nvSpPr>
          <p:cNvPr id="13" name="Shape 10"/>
          <p:cNvSpPr/>
          <p:nvPr/>
        </p:nvSpPr>
        <p:spPr>
          <a:xfrm>
            <a:off x="4846320" y="2267712"/>
            <a:ext cx="3931920" cy="91440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846320" y="2267712"/>
            <a:ext cx="64008" cy="9144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29200" y="234086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Negative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029200" y="26791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 reviews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772400" y="2450592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F9616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18%</a:t>
            </a:r>
            <a:endParaRPr lang="en-US" sz="2400" dirty="0"/>
          </a:p>
        </p:txBody>
      </p:sp>
      <p:sp>
        <p:nvSpPr>
          <p:cNvPr id="18" name="Shape 15"/>
          <p:cNvSpPr/>
          <p:nvPr/>
        </p:nvSpPr>
        <p:spPr>
          <a:xfrm>
            <a:off x="4846320" y="3346704"/>
            <a:ext cx="3931920" cy="91440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846320" y="3346704"/>
            <a:ext cx="64008" cy="914400"/>
          </a:xfrm>
          <a:prstGeom prst="rect">
            <a:avLst/>
          </a:prstGeom>
          <a:solidFill>
            <a:srgbClr val="F9C74F"/>
          </a:solidFill>
          <a:ln w="12700">
            <a:solidFill>
              <a:srgbClr val="F9C74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029200" y="341985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Mixed / Neutral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5029200" y="375818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85+ reviews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7772400" y="3529584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F9C7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20%</a:t>
            </a:r>
            <a:endParaRPr lang="en-US" sz="2400" dirty="0"/>
          </a:p>
        </p:txBody>
      </p:sp>
      <p:sp>
        <p:nvSpPr>
          <p:cNvPr id="23" name="Shape 20"/>
          <p:cNvSpPr/>
          <p:nvPr/>
        </p:nvSpPr>
        <p:spPr>
          <a:xfrm>
            <a:off x="4846320" y="4343400"/>
            <a:ext cx="3931920" cy="548640"/>
          </a:xfrm>
          <a:prstGeom prst="rect">
            <a:avLst/>
          </a:prstGeom>
          <a:solidFill>
            <a:srgbClr val="2A1A1F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983480" y="43434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Avg rating 3.7 — below 4.0 target. Products rated &lt; 3.5 need immediate focus.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57200" y="4846320"/>
            <a:ext cx="8229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BBE"/>
                </a:solidFill>
              </a:rPr>
              <a:t>ShopEasy Marketing Analytics  |  2024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3C6AC"/>
          </a:solidFill>
          <a:ln w="12700">
            <a:solidFill>
              <a:srgbClr val="43C6A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01168"/>
            <a:ext cx="1920240" cy="256032"/>
          </a:xfrm>
          <a:prstGeom prst="rect">
            <a:avLst/>
          </a:prstGeom>
          <a:solidFill>
            <a:srgbClr val="43C6AC"/>
          </a:solidFill>
          <a:ln w="12700">
            <a:solidFill>
              <a:srgbClr val="43C6A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2A"/>
                </a:solidFill>
              </a:rPr>
              <a:t>RECOMMENDATIONS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Goals &amp; Actions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8412480" cy="1078992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88720"/>
            <a:ext cx="64008" cy="1078992"/>
          </a:xfrm>
          <a:prstGeom prst="rect">
            <a:avLst/>
          </a:prstGeom>
          <a:solidFill>
            <a:srgbClr val="43C6AC"/>
          </a:solidFill>
          <a:ln w="12700">
            <a:solidFill>
              <a:srgbClr val="43C6A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32588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C6A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143000" y="12801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Increase Conversion Rates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43000" y="164592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3C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 </a:t>
            </a:r>
            <a:pPr indent="0" marL="0">
              <a:buNone/>
            </a:pPr>
            <a:r>
              <a:rPr lang="en-US" sz="100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factors impacting conversion and recommend improvements.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1325880"/>
            <a:ext cx="0" cy="777240"/>
          </a:xfrm>
          <a:prstGeom prst="line">
            <a:avLst/>
          </a:prstGeom>
          <a:noFill/>
          <a:ln w="12700">
            <a:solidFill>
              <a:srgbClr val="2A40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28016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3C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pPr indent="0" marL="0">
              <a:buNone/>
            </a:pPr>
            <a:r>
              <a:rPr lang="en-US" sz="100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high-converting products (Kayaks, Ski Boots, Baseball Gloves). Run seasonal promotions in Jan &amp; Sep. Revamp May strategy with targeted campaigns.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423160"/>
            <a:ext cx="8412480" cy="1078992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423160"/>
            <a:ext cx="64008" cy="1078992"/>
          </a:xfrm>
          <a:prstGeom prst="rect">
            <a:avLst/>
          </a:prstGeom>
          <a:solidFill>
            <a:srgbClr val="F9C74F"/>
          </a:solidFill>
          <a:ln w="12700">
            <a:solidFill>
              <a:srgbClr val="F9C74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56032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9C7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1143000" y="25146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Enhance Customer Engagement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43000" y="288036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 </a:t>
            </a:r>
            <a:pPr indent="0" marL="0">
              <a:buNone/>
            </a:pPr>
            <a:r>
              <a:rPr lang="en-US" sz="100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 content types that drive the highest engagement.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2560320"/>
            <a:ext cx="0" cy="777240"/>
          </a:xfrm>
          <a:prstGeom prst="line">
            <a:avLst/>
          </a:prstGeom>
          <a:noFill/>
          <a:ln w="12700">
            <a:solidFill>
              <a:srgbClr val="2A40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251460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pPr indent="0" marL="0">
              <a:buNone/>
            </a:pPr>
            <a:r>
              <a:rPr lang="en-US" sz="100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with interactive video &amp; user-generated content. Optimize CTAs in blogs and social posts. Focus efforts on low-engagement months Sep–Dec.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657600"/>
            <a:ext cx="8412480" cy="1078992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657600"/>
            <a:ext cx="64008" cy="107899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79476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9616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1143000" y="37490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Improve Feedback Scores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43000" y="411480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 </a:t>
            </a:r>
            <a:pPr indent="0" marL="0">
              <a:buNone/>
            </a:pPr>
            <a:r>
              <a:rPr lang="en-US" sz="100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review themes and provide actionable improvements.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3794760"/>
            <a:ext cx="0" cy="777240"/>
          </a:xfrm>
          <a:prstGeom prst="line">
            <a:avLst/>
          </a:prstGeom>
          <a:noFill/>
          <a:ln w="12700">
            <a:solidFill>
              <a:srgbClr val="2A406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374904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pPr indent="0" marL="0">
              <a:buNone/>
            </a:pPr>
            <a:r>
              <a:rPr lang="en-US" sz="100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feedback loop for mixed/negative reviews. Target products &lt; 3.5 with improvement plans. Follow up with dissatisfied customers to push avg rating toward 4.0.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4846320"/>
            <a:ext cx="8229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BBE"/>
                </a:solidFill>
              </a:rPr>
              <a:t>ShopEasy Marketing Analytics  |  2024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5029200" cy="5029200"/>
          </a:xfrm>
          <a:prstGeom prst="ellipse">
            <a:avLst/>
          </a:prstGeom>
          <a:solidFill>
            <a:srgbClr val="F96167">
              <a:alpha val="10000"/>
            </a:srgbClr>
          </a:solidFill>
          <a:ln w="12700">
            <a:solidFill>
              <a:srgbClr val="F96167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1828800"/>
            <a:ext cx="4572000" cy="4572000"/>
          </a:xfrm>
          <a:prstGeom prst="ellipse">
            <a:avLst/>
          </a:prstGeom>
          <a:solidFill>
            <a:srgbClr val="43C6AC">
              <a:alpha val="10000"/>
            </a:srgbClr>
          </a:solidFill>
          <a:ln w="12700">
            <a:solidFill>
              <a:srgbClr val="43C6AC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28016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7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decisions start with the right questions.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011680" y="3200400"/>
            <a:ext cx="1463040" cy="365760"/>
          </a:xfrm>
          <a:prstGeom prst="rect">
            <a:avLst/>
          </a:prstGeom>
          <a:solidFill>
            <a:srgbClr val="43C6AC"/>
          </a:solidFill>
          <a:ln w="12700">
            <a:solidFill>
              <a:srgbClr val="43C6A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11680" y="32004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840480" y="3200400"/>
            <a:ext cx="1463040" cy="365760"/>
          </a:xfrm>
          <a:prstGeom prst="rect">
            <a:avLst/>
          </a:prstGeom>
          <a:solidFill>
            <a:srgbClr val="F9C74F"/>
          </a:solidFill>
          <a:ln w="12700">
            <a:solidFill>
              <a:srgbClr val="F9C7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0" y="32004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0" y="3200400"/>
            <a:ext cx="1463040" cy="36576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0" y="32004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663440"/>
            <a:ext cx="82296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9BBE"/>
                </a:solidFill>
              </a:rPr>
              <a:t>ShopEasy Marketing Analytics  |  Data Analyst  |  2024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ShopEasy Marketing Analytics – Final Report</dc:title>
  <dc:subject>PptxGenJS Presentation</dc:subject>
  <dc:creator>PptxGenJS</dc:creator>
  <cp:lastModifiedBy>PptxGenJS</cp:lastModifiedBy>
  <cp:revision>1</cp:revision>
  <dcterms:created xsi:type="dcterms:W3CDTF">2026-03-14T08:43:21Z</dcterms:created>
  <dcterms:modified xsi:type="dcterms:W3CDTF">2026-03-14T08:43:21Z</dcterms:modified>
</cp:coreProperties>
</file>